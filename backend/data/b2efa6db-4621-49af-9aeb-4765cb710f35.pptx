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9144000"/>
  <p:notesSz cx="6858000" cy="9144000"/>
  <p:embeddedFontLst>
    <p:embeddedFont>
      <p:font typeface="Robot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jC4iP3r+BSHpcYtX88fBwACLYZ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customschemas.google.com/relationships/presentationmetadata" Target="meta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71772b7f1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271772b7f13_0_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1772b7f13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271772b7f13_0_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4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5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Relationship Id="rId4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Relationship Id="rId4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Relationship Id="rId4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jpg"/><Relationship Id="rId4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Relationship Id="rId4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Relationship Id="rId4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jpg"/><Relationship Id="rId4" Type="http://schemas.openxmlformats.org/officeDocument/2006/relationships/hyperlink" Target="mailto:suhas.bhagate@gmail.com" TargetMode="External"/><Relationship Id="rId5" Type="http://schemas.openxmlformats.org/officeDocument/2006/relationships/hyperlink" Target="mailto:suhas.bhagate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0" y="0"/>
            <a:ext cx="9144000" cy="470217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Algorithms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NP Hard and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NP Complete Problems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Basic Concepts</a:t>
            </a:r>
            <a:endParaRPr/>
          </a:p>
        </p:txBody>
      </p:sp>
      <p:cxnSp>
        <p:nvCxnSpPr>
          <p:cNvPr id="98" name="Google Shape;98;p2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9" name="Google Shape;99;p2"/>
          <p:cNvSpPr txBox="1"/>
          <p:nvPr/>
        </p:nvSpPr>
        <p:spPr>
          <a:xfrm>
            <a:off x="0" y="642937"/>
            <a:ext cx="9144000" cy="542607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that can be solved by a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 time algorithm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 – O(n log n)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– O(log n)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for which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polynomial time algorithm </a:t>
            </a: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known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Traveling salesperson O(2</a:t>
            </a:r>
            <a:r>
              <a:rPr b="0" baseline="3000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baseline="3000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one has been able to develop a polynomial time algorithm for such problems.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and Non-deterministic Algorithms</a:t>
            </a:r>
            <a:endParaRPr/>
          </a:p>
        </p:txBody>
      </p:sp>
      <p:cxnSp>
        <p:nvCxnSpPr>
          <p:cNvPr id="107" name="Google Shape;107;p3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8" name="Google Shape;108;p3"/>
          <p:cNvSpPr txBox="1"/>
          <p:nvPr/>
        </p:nvSpPr>
        <p:spPr>
          <a:xfrm>
            <a:off x="0" y="642937"/>
            <a:ext cx="9144000" cy="6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Algorithms:-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of every operation is uniquely defined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Normal Quick Sort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Non-deterministic Algorithms:-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contains some operations whose outcomes are not uniquely defined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limited to specified sets of possibilities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allowed to choose any one of these outcomes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Randomized Quick Sort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Non-deterministic Algorithms</a:t>
            </a:r>
            <a:endParaRPr/>
          </a:p>
        </p:txBody>
      </p:sp>
      <p:cxnSp>
        <p:nvCxnSpPr>
          <p:cNvPr id="116" name="Google Shape;116;p4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7" name="Google Shape;117;p4"/>
          <p:cNvSpPr txBox="1"/>
          <p:nvPr/>
        </p:nvSpPr>
        <p:spPr>
          <a:xfrm>
            <a:off x="0" y="642937"/>
            <a:ext cx="9144000" cy="187166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3429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Non-deterministic Search Algorithm:-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" y="2082800"/>
            <a:ext cx="86296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951287"/>
            <a:ext cx="7162800" cy="206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Non-deterministic Algorithms</a:t>
            </a:r>
            <a:endParaRPr/>
          </a:p>
        </p:txBody>
      </p:sp>
      <p:cxnSp>
        <p:nvCxnSpPr>
          <p:cNvPr id="127" name="Google Shape;127;p5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8" name="Google Shape;128;p5"/>
          <p:cNvSpPr txBox="1"/>
          <p:nvPr/>
        </p:nvSpPr>
        <p:spPr>
          <a:xfrm>
            <a:off x="0" y="642937"/>
            <a:ext cx="9144000" cy="11922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Non-deterministic Sorting Algorithm:-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925" y="1905000"/>
            <a:ext cx="7585075" cy="44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  <a:endParaRPr/>
          </a:p>
        </p:txBody>
      </p:sp>
      <p:cxnSp>
        <p:nvCxnSpPr>
          <p:cNvPr id="137" name="Google Shape;137;p6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8" name="Google Shape;138;p6"/>
          <p:cNvSpPr txBox="1"/>
          <p:nvPr/>
        </p:nvSpPr>
        <p:spPr>
          <a:xfrm>
            <a:off x="0" y="642937"/>
            <a:ext cx="9144000" cy="53022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Problem –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problem for which the answer is either 0 or 1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Problem –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problem that involves the identification of an optimal value of a given cost function</a:t>
            </a:r>
            <a:endParaRPr/>
          </a:p>
          <a:p>
            <a:pPr indent="-43815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Algorithms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Algorithms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  <a:endParaRPr/>
          </a:p>
        </p:txBody>
      </p:sp>
      <p:cxnSp>
        <p:nvCxnSpPr>
          <p:cNvPr id="146" name="Google Shape;146;p7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7" name="Google Shape;147;p7"/>
          <p:cNvSpPr txBox="1"/>
          <p:nvPr/>
        </p:nvSpPr>
        <p:spPr>
          <a:xfrm>
            <a:off x="0" y="642937"/>
            <a:ext cx="9144000" cy="633412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set of all the problems solvable by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algorithms in polynomial time.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set of all the problems solvable by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nondeterministic algorithms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polynomial time. </a:t>
            </a:r>
            <a:endParaRPr/>
          </a:p>
          <a:p>
            <a:pPr indent="-43815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deterministic algorithms are just a special case of nondeterministic ones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conclude that P is subset of  NP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problems are very complex.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Mostly, it is not possible to solve Optimization problems in polynomial time.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762000"/>
            <a:ext cx="4572000" cy="366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Reducibility</a:t>
            </a:r>
            <a:endParaRPr/>
          </a:p>
        </p:txBody>
      </p:sp>
      <p:cxnSp>
        <p:nvCxnSpPr>
          <p:cNvPr id="162" name="Google Shape;162;p9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3" name="Google Shape;163;p9"/>
          <p:cNvSpPr txBox="1"/>
          <p:nvPr/>
        </p:nvSpPr>
        <p:spPr>
          <a:xfrm>
            <a:off x="0" y="642937"/>
            <a:ext cx="9144000" cy="61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L1 and L2 be problems.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L1 reduces to L2  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 </a:t>
            </a:r>
            <a:r>
              <a:rPr b="0" i="0" lang="en-US" sz="3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L2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there is a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solve L1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a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polynomial time algorithm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 deterministic algorithm that solves L2 in polynomial time.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definition implies that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have a polynomial time algorithm for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L2,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we can solve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polynomial time.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Reducibility is transitive</a:t>
            </a:r>
            <a:endParaRPr/>
          </a:p>
        </p:txBody>
      </p:sp>
      <p:pic>
        <p:nvPicPr>
          <p:cNvPr id="164" name="Google Shape;16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6400800"/>
            <a:ext cx="459898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0" y="642937"/>
            <a:ext cx="9144000" cy="313372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prove that problem P is NP-Hard – 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that problem to known NP-Hard Problem.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Satisfiability (SAT) Problem is NP-Hard.</a:t>
            </a: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77" name="Google Shape;1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1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Satisfiability</a:t>
            </a:r>
            <a:endParaRPr/>
          </a:p>
        </p:txBody>
      </p:sp>
      <p:cxnSp>
        <p:nvCxnSpPr>
          <p:cNvPr id="179" name="Google Shape;179;p11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0" name="Google Shape;180;p11"/>
          <p:cNvSpPr txBox="1"/>
          <p:nvPr/>
        </p:nvSpPr>
        <p:spPr>
          <a:xfrm>
            <a:off x="0" y="642937"/>
            <a:ext cx="9144000" cy="6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x</a:t>
            </a:r>
            <a:r>
              <a:rPr b="0"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0"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0"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 denote Boolean variables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value is either true or false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x</a:t>
            </a:r>
            <a:r>
              <a:rPr b="0"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denote the negation of x</a:t>
            </a:r>
            <a:r>
              <a:rPr b="0" baseline="-25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literal is either a variable or its negation.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formula in the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propositional calculus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 expression that can be constructed using literals and the operations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such formulas are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symbol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denotes or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 denotes and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cxnSp>
        <p:nvCxnSpPr>
          <p:cNvPr id="181" name="Google Shape;181;p11"/>
          <p:cNvCxnSpPr/>
          <p:nvPr/>
        </p:nvCxnSpPr>
        <p:spPr>
          <a:xfrm>
            <a:off x="1219200" y="2057400"/>
            <a:ext cx="228600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182" name="Google Shape;1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562600"/>
            <a:ext cx="66167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88" name="Google Shape;1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90" name="Google Shape;1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" y="609600"/>
            <a:ext cx="75438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97" name="Google Shape;1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875"/>
            <a:ext cx="9144000" cy="6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Satisfiability</a:t>
            </a:r>
            <a:endParaRPr/>
          </a:p>
        </p:txBody>
      </p:sp>
      <p:cxnSp>
        <p:nvCxnSpPr>
          <p:cNvPr id="204" name="Google Shape;204;p14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5" name="Google Shape;205;p14"/>
          <p:cNvSpPr txBox="1"/>
          <p:nvPr/>
        </p:nvSpPr>
        <p:spPr>
          <a:xfrm>
            <a:off x="0" y="642937"/>
            <a:ext cx="9144000" cy="2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Propositional Calculus – Mathematical Logic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Satisfiability problem is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determine whether a formula is true for some assignment of truth values to the variables.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11" name="Google Shape;2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5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Satisfiability</a:t>
            </a:r>
            <a:endParaRPr/>
          </a:p>
        </p:txBody>
      </p:sp>
      <p:cxnSp>
        <p:nvCxnSpPr>
          <p:cNvPr id="213" name="Google Shape;213;p15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4" name="Google Shape;214;p15"/>
          <p:cNvSpPr txBox="1"/>
          <p:nvPr/>
        </p:nvSpPr>
        <p:spPr>
          <a:xfrm>
            <a:off x="0" y="642937"/>
            <a:ext cx="9144000" cy="52720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easy to obtain a polynomial time nondeterministic algorithm that  terminates successfully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a given propositional formula E(x1,...,xn) is satisfiable.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an algorithm could proceed by simply choosing (non-deterministically) one of the 2</a:t>
            </a:r>
            <a:r>
              <a:rPr b="0" baseline="3000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possible assignments of truth values to (x1,..., xn)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verifying that E(x1,..., xn) is true for that assignment. 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20" name="Google Shape;2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6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Basic Concepts</a:t>
            </a:r>
            <a:endParaRPr/>
          </a:p>
        </p:txBody>
      </p:sp>
      <p:cxnSp>
        <p:nvCxnSpPr>
          <p:cNvPr id="222" name="Google Shape;222;p16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3" name="Google Shape;223;p16"/>
          <p:cNvSpPr txBox="1"/>
          <p:nvPr/>
        </p:nvSpPr>
        <p:spPr>
          <a:xfrm>
            <a:off x="0" y="642937"/>
            <a:ext cx="9144000" cy="60563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Non-Polynomial – time needed is exponential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vast amount of time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moderate-size problems can not be solved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provide a method to obtain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 time algorithms for problems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of the problems for which there are no known polynomial time algorithms are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computationally related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classes of problems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 – Hard			NP – Complete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/>
        </p:nvSpPr>
        <p:spPr>
          <a:xfrm>
            <a:off x="0" y="0"/>
            <a:ext cx="9144000" cy="6872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problem that is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NP-complete has the property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solved in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 time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other NP-complete problems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also be solved in polynomial time. </a:t>
            </a:r>
            <a:endParaRPr/>
          </a:p>
          <a:p>
            <a:pPr indent="-469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NP-hard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can be solved in polynomial time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NP-complete problems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solved in polynomial time.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NP-complete problems are NP-hard,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some NP-hard problems are not known to be NP-complete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NP-Complete  NP-Hard  </a:t>
            </a:r>
            <a:endParaRPr/>
          </a:p>
        </p:txBody>
      </p:sp>
      <p:cxnSp>
        <p:nvCxnSpPr>
          <p:cNvPr id="238" name="Google Shape;238;p18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39" name="Google Shape;239;p18"/>
          <p:cNvSpPr txBox="1"/>
          <p:nvPr/>
        </p:nvSpPr>
        <p:spPr>
          <a:xfrm>
            <a:off x="0" y="642937"/>
            <a:ext cx="9144000" cy="550227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problem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is NP-hard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satisfiability reduces to L 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problem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is NP-hard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it can be reduced to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satisfiability problem (SAT)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Satisfiability Problem (SAT) is NP- Hard, Problem L is also NP-Hard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45" name="Google Shape;2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NP-Complete  NP-Hard  </a:t>
            </a:r>
            <a:endParaRPr/>
          </a:p>
        </p:txBody>
      </p:sp>
      <p:cxnSp>
        <p:nvCxnSpPr>
          <p:cNvPr id="247" name="Google Shape;247;p19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8" name="Google Shape;248;p19"/>
          <p:cNvSpPr txBox="1"/>
          <p:nvPr/>
        </p:nvSpPr>
        <p:spPr>
          <a:xfrm>
            <a:off x="0" y="642937"/>
            <a:ext cx="9144000" cy="353377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very hard problems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any NP Hard problem can be solved in polynomial time, then all NP-Complete problems can be solved in polynomial time.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means, it is impossible to solve NP-Hard problem in polynomial time.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54" name="Google Shape;2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NP-Complete  NP-Hard  </a:t>
            </a:r>
            <a:endParaRPr/>
          </a:p>
        </p:txBody>
      </p:sp>
      <p:cxnSp>
        <p:nvCxnSpPr>
          <p:cNvPr id="256" name="Google Shape;256;p20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7" name="Google Shape;257;p20"/>
          <p:cNvSpPr txBox="1"/>
          <p:nvPr/>
        </p:nvSpPr>
        <p:spPr>
          <a:xfrm>
            <a:off x="0" y="642937"/>
            <a:ext cx="9144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problem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is NP-complete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is NP-hard and L belongs to NP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NP-Complete problems are less hard than NP-Hard problems.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 instance of NP-Hard problem can form NP-Complete Problem.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 to certain extent, it can be solved in polynomial time.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Decision Problem instance of Optimization problem.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63" name="Google Shape;2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0" y="0"/>
            <a:ext cx="9144000" cy="4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Decision problems can be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NP-complete. – 0 or 1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optimization problem may be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NP-hard.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L1 is a decision problem and L2 an optimization problem,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 is reducible to L2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knapsack decision problem reduces to the knapsack optimization problem. 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70" name="Google Shape;2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0" y="5743575"/>
            <a:ext cx="91440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believed NP-complete, and NP-hard problems relationship among P, NP,</a:t>
            </a:r>
            <a:endParaRPr/>
          </a:p>
        </p:txBody>
      </p:sp>
      <p:pic>
        <p:nvPicPr>
          <p:cNvPr id="272" name="Google Shape;2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70388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78" name="Google Shape;2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11112" y="77787"/>
            <a:ext cx="9144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How to prove the given problem is NP Hard and NP Complete?</a:t>
            </a:r>
            <a:endParaRPr/>
          </a:p>
        </p:txBody>
      </p:sp>
      <p:cxnSp>
        <p:nvCxnSpPr>
          <p:cNvPr id="280" name="Google Shape;280;p23"/>
          <p:cNvCxnSpPr/>
          <p:nvPr/>
        </p:nvCxnSpPr>
        <p:spPr>
          <a:xfrm>
            <a:off x="-17462" y="1277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1" name="Google Shape;281;p23"/>
          <p:cNvSpPr txBox="1"/>
          <p:nvPr/>
        </p:nvSpPr>
        <p:spPr>
          <a:xfrm>
            <a:off x="0" y="533400"/>
            <a:ext cx="8991600" cy="65770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3429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Strategy is: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Pick a problem L2 already known to be NP-hard.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Show how to obtain an instance I’ of L2 from any instance I of L1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from the solution of I’ we can determine the solution to instance I of L1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Conclude from step (2) that L1 is reducible to L2.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Conclude from steps (1) and (3) and the transitivity of reducibility,  that L1 is NP-hard.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To prove problem is NP Complete show that NP hard problem is also NP the is If a NP Hard problem can be solved using Non Deterministic Algorithm in Polynomial time then it is NP Complete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87" name="Google Shape;2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Clique Decision Problem (CDP)</a:t>
            </a:r>
            <a:endParaRPr/>
          </a:p>
        </p:txBody>
      </p:sp>
      <p:cxnSp>
        <p:nvCxnSpPr>
          <p:cNvPr id="289" name="Google Shape;289;p24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90" name="Google Shape;290;p24"/>
          <p:cNvSpPr txBox="1"/>
          <p:nvPr/>
        </p:nvSpPr>
        <p:spPr>
          <a:xfrm>
            <a:off x="0" y="642937"/>
            <a:ext cx="9144000" cy="53863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maximum complete subgraph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graph G=(V,E) is a clique –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Sets of elements where each pair of elements is connected.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size of clique is the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vertices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it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clique problem is an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problem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to determine the size of a largest clique in G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problem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to determine whether G has a clique of size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least k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some given k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Clique Decision Problem (CDP)</a:t>
            </a:r>
            <a:endParaRPr/>
          </a:p>
        </p:txBody>
      </p:sp>
      <p:cxnSp>
        <p:nvCxnSpPr>
          <p:cNvPr id="298" name="Google Shape;298;p25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299" name="Google Shape;2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85800"/>
            <a:ext cx="91440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381000" y="2667000"/>
            <a:ext cx="9144000" cy="361632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A                                    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                          C        B                            C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D                                      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                 F                    E                 F          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" y="515937"/>
            <a:ext cx="83947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309" name="Google Shape;30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3414712"/>
            <a:ext cx="571500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14" name="Google Shape;3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Clique Decision Problem (CDP)</a:t>
            </a:r>
            <a:endParaRPr/>
          </a:p>
        </p:txBody>
      </p:sp>
      <p:cxnSp>
        <p:nvCxnSpPr>
          <p:cNvPr id="316" name="Google Shape;316;p27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7" name="Google Shape;317;p27"/>
          <p:cNvSpPr txBox="1"/>
          <p:nvPr/>
        </p:nvSpPr>
        <p:spPr>
          <a:xfrm>
            <a:off x="0" y="642937"/>
            <a:ext cx="9144000" cy="45021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clique problem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solved in polynomial time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the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clique optimization problem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solved in polynomial time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Satisfiability reduces to Clique Problem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Clique Problem is NP-Hard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CDP </a:t>
            </a:r>
            <a:r>
              <a:rPr b="0" i="0" lang="en-US" sz="4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є</a:t>
            </a:r>
            <a:r>
              <a:rPr b="0" i="0" lang="en-US" sz="3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NP, CDP is also NP-Complete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23" name="Google Shape;3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8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Node Cover Decision Problem (NCDP)</a:t>
            </a:r>
            <a:endParaRPr/>
          </a:p>
        </p:txBody>
      </p:sp>
      <p:cxnSp>
        <p:nvCxnSpPr>
          <p:cNvPr id="325" name="Google Shape;325;p28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26" name="Google Shape;326;p28"/>
          <p:cNvSpPr txBox="1"/>
          <p:nvPr/>
        </p:nvSpPr>
        <p:spPr>
          <a:xfrm>
            <a:off x="0" y="642937"/>
            <a:ext cx="9144000" cy="553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set S subset of V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cover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graph G = (V, E)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edges in E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incident to at least one vertex in S.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size |S| of the cover is the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vertices in S.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–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graph of Figure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{2,4} is a node cover of size 2.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{1,3,5} is a node cover of size 3.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32" name="Google Shape;3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/>
        </p:nvSpPr>
        <p:spPr>
          <a:xfrm>
            <a:off x="-17462" y="2549525"/>
            <a:ext cx="9144000" cy="237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node cover decision problem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graph G and an integer k.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to determine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whether G has a node cover of size at most k</a:t>
            </a:r>
            <a:endParaRPr/>
          </a:p>
        </p:txBody>
      </p:sp>
      <p:pic>
        <p:nvPicPr>
          <p:cNvPr id="334" name="Google Shape;33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134937"/>
            <a:ext cx="4343400" cy="222726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40" name="Google Shape;3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0" y="0"/>
            <a:ext cx="91440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-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clique decision problem is reducible to the node cover decision problem.</a:t>
            </a:r>
            <a:endParaRPr/>
          </a:p>
        </p:txBody>
      </p:sp>
      <p:pic>
        <p:nvPicPr>
          <p:cNvPr id="342" name="Google Shape;34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66800"/>
            <a:ext cx="9144000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48" name="Google Shape;3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</a:t>
            </a:r>
            <a:endParaRPr/>
          </a:p>
        </p:txBody>
      </p:sp>
      <p:cxnSp>
        <p:nvCxnSpPr>
          <p:cNvPr id="350" name="Google Shape;350;p31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51" name="Google Shape;351;p31"/>
          <p:cNvSpPr txBox="1"/>
          <p:nvPr/>
        </p:nvSpPr>
        <p:spPr>
          <a:xfrm>
            <a:off x="0" y="642937"/>
            <a:ext cx="9144000" cy="55006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G = (V, E) and k define an instance of CDP.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that |V| = n.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construct a graph G’ such that G’ has a node cover of size at most n - k if and only if G has a clique of size at least k.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G' is given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G' = (V, E), where E = {{u,v) | u </a:t>
            </a:r>
            <a:r>
              <a:rPr b="0" i="0" lang="en-US" sz="32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є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V,v </a:t>
            </a:r>
            <a:r>
              <a:rPr b="0" i="0" lang="en-US" sz="32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є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 and  (u,v) </a:t>
            </a:r>
            <a:r>
              <a:rPr b="0" i="0" lang="en-US" sz="32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є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E}.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set  G' is known as the complement of G. </a:t>
            </a:r>
            <a:endParaRPr/>
          </a:p>
        </p:txBody>
      </p:sp>
      <p:cxnSp>
        <p:nvCxnSpPr>
          <p:cNvPr id="352" name="Google Shape;352;p31"/>
          <p:cNvCxnSpPr/>
          <p:nvPr/>
        </p:nvCxnSpPr>
        <p:spPr>
          <a:xfrm>
            <a:off x="2362200" y="4343400"/>
            <a:ext cx="228600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53" name="Google Shape;353;p31"/>
          <p:cNvCxnSpPr/>
          <p:nvPr/>
        </p:nvCxnSpPr>
        <p:spPr>
          <a:xfrm>
            <a:off x="3962400" y="4343400"/>
            <a:ext cx="228600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54" name="Google Shape;354;p31"/>
          <p:cNvCxnSpPr/>
          <p:nvPr/>
        </p:nvCxnSpPr>
        <p:spPr>
          <a:xfrm rot="5400000">
            <a:off x="1333500" y="5219700"/>
            <a:ext cx="381000" cy="31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55" name="Google Shape;355;p3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60" name="Google Shape;3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2"/>
          <p:cNvSpPr txBox="1"/>
          <p:nvPr/>
        </p:nvSpPr>
        <p:spPr>
          <a:xfrm>
            <a:off x="0" y="0"/>
            <a:ext cx="9144000" cy="305593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G’ has a node cover {4, 5} of size 2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every edge of G’ is incident either on the node 4 or on the node 5.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has a clique of size 5-2 = 3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consisting of the nodes 1,2, and 3. 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67" name="Google Shape;36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3"/>
          <p:cNvSpPr txBox="1"/>
          <p:nvPr/>
        </p:nvSpPr>
        <p:spPr>
          <a:xfrm>
            <a:off x="0" y="0"/>
            <a:ext cx="91440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Chromatic Number Decision Problem (CNDP)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33"/>
          <p:cNvCxnSpPr/>
          <p:nvPr/>
        </p:nvCxnSpPr>
        <p:spPr>
          <a:xfrm>
            <a:off x="46037" y="1146175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70" name="Google Shape;370;p33"/>
          <p:cNvSpPr txBox="1"/>
          <p:nvPr/>
        </p:nvSpPr>
        <p:spPr>
          <a:xfrm>
            <a:off x="0" y="1154112"/>
            <a:ext cx="9144000" cy="502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coloring of a graph G = (V, E)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function f: V →{1, 2,... , k}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for all i </a:t>
            </a:r>
            <a:r>
              <a:rPr b="0" i="0" lang="en-US" sz="32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є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(u, v) </a:t>
            </a:r>
            <a:r>
              <a:rPr b="0" i="0" lang="en-US" sz="32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є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E, then f(u) ≠ f(v).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chromatic number decision problem is to determine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whether G has a coloring for a given k.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NP-Hard 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76" name="Google Shape;3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4"/>
          <p:cNvSpPr txBox="1"/>
          <p:nvPr/>
        </p:nvSpPr>
        <p:spPr>
          <a:xfrm>
            <a:off x="0" y="0"/>
            <a:ext cx="9144000" cy="2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possible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2-coloring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graph of Figure is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f(1) = f(3) = f(5) =1.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f(2) = f(4) = 2.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graph has no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1-coloring possible.</a:t>
            </a:r>
            <a:endParaRPr/>
          </a:p>
        </p:txBody>
      </p:sp>
      <p:pic>
        <p:nvPicPr>
          <p:cNvPr id="378" name="Google Shape;37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3124200"/>
            <a:ext cx="4343400" cy="222726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84" name="Google Shape;384;g271772b7f13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271772b7f13_0_7"/>
          <p:cNvSpPr txBox="1"/>
          <p:nvPr/>
        </p:nvSpPr>
        <p:spPr>
          <a:xfrm>
            <a:off x="0" y="0"/>
            <a:ext cx="914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271772b7f13_0_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87" name="Google Shape;387;g271772b7f13_0_7"/>
          <p:cNvSpPr txBox="1"/>
          <p:nvPr/>
        </p:nvSpPr>
        <p:spPr>
          <a:xfrm>
            <a:off x="-17450" y="1214450"/>
            <a:ext cx="8965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In proving CNDP to be NP-hard, we shall make use of the </a:t>
            </a:r>
            <a:r>
              <a:rPr lang="en-US" sz="3000">
                <a:solidFill>
                  <a:schemeClr val="dk1"/>
                </a:solidFill>
              </a:rPr>
              <a:t>NP-hard</a:t>
            </a:r>
            <a:r>
              <a:rPr lang="en-US" sz="3000"/>
              <a:t> problem SATY.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This is the CNF-satisfiability problem with the restriction that each clause has at most three literal</a:t>
            </a:r>
            <a:endParaRPr sz="3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392" name="Google Shape;392;g271772b7f13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271772b7f13_0_17"/>
          <p:cNvSpPr txBox="1"/>
          <p:nvPr/>
        </p:nvSpPr>
        <p:spPr>
          <a:xfrm>
            <a:off x="0" y="0"/>
            <a:ext cx="914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271772b7f13_0_1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95" name="Google Shape;395;g271772b7f13_0_17"/>
          <p:cNvSpPr txBox="1"/>
          <p:nvPr/>
        </p:nvSpPr>
        <p:spPr>
          <a:xfrm>
            <a:off x="-17450" y="196450"/>
            <a:ext cx="8965500" cy="6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 prove that the Chromatic Number Decision Problem (CNDP) is NP-hard, we typically reduce a known NP-hard problem to CNDP. One of the most commonly used NP-hard problems for such reductions is the Boolean satisfiability problem (SAT).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Boolean satisfiability problem (SAT) asks whether there exists an assignment of truth values to variables in a Boolean formula such that the formula evaluates to true. SAT is NP-complete, meaning that any problem in NP can be reduced to SAT in polynomial time.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Here's a sketch of the reduction from SAT to CNDP: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Given a Boolean formula in conjunctive normal form (CNF), construct a graph where each variable corresponds to a vertex and each clause corresponds to a set of vertices.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each clause, create a clique (complete subgraph) of size 3.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 each pair of vertices corresponding to complementary literals (i.e., variables and their negations), connect them with an edge.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Assign colors to the vertices in such a way that no two adjacent vertices have the same color.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resulting graph can be colored with three colors if and only if the original Boolean formula is satisfiable.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reduction can be done in polynomial time, and it shows that if we had a polynomial-time algorithm for solving CNDP, we could also solve SAT in polynomial time. Since SAT is NP-complete, this implies that CNDP is NP-hard.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Therefore, the Chromatic Number Decision Problem (CNDP) is NP-hard.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400" name="Google Shape;4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Directed Hamiltonian Cycle (DHC)</a:t>
            </a:r>
            <a:endParaRPr/>
          </a:p>
        </p:txBody>
      </p:sp>
      <p:cxnSp>
        <p:nvCxnSpPr>
          <p:cNvPr id="402" name="Google Shape;402;p35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3" name="Google Shape;403;p35"/>
          <p:cNvSpPr txBox="1"/>
          <p:nvPr/>
        </p:nvSpPr>
        <p:spPr>
          <a:xfrm>
            <a:off x="0" y="642937"/>
            <a:ext cx="9144000" cy="6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Hamiltonian cycle in a directed graph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= (V, E)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directed cycle of length m = |V|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cycle goes through every vertex exactly once and then returns to the starting vertex.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DHC problem is to determine whether G has a directed Hamiltonian cycle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Satisfiability reduces to directed Hamiltonian Cycle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it is NP-Hard problem</a:t>
            </a:r>
            <a:endParaRPr/>
          </a:p>
        </p:txBody>
      </p:sp>
      <p:sp>
        <p:nvSpPr>
          <p:cNvPr id="404" name="Google Shape;404;p3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409" name="Google Shape;4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6"/>
          <p:cNvSpPr txBox="1"/>
          <p:nvPr/>
        </p:nvSpPr>
        <p:spPr>
          <a:xfrm>
            <a:off x="0" y="3581400"/>
            <a:ext cx="9144000" cy="2300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3, 4, 5, 1 is a directed Hamiltonian cycle in the graph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edge (5, 1) is deleted from this graph, then it has no directed Hamiltonian cycle. </a:t>
            </a:r>
            <a:endParaRPr/>
          </a:p>
        </p:txBody>
      </p:sp>
      <p:pic>
        <p:nvPicPr>
          <p:cNvPr id="411" name="Google Shape;41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52387"/>
            <a:ext cx="5410200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417" name="Google Shape;4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 txBox="1"/>
          <p:nvPr/>
        </p:nvSpPr>
        <p:spPr>
          <a:xfrm>
            <a:off x="0" y="0"/>
            <a:ext cx="91440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Traveling Salesperson Decision Problem (TSP)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37"/>
          <p:cNvCxnSpPr/>
          <p:nvPr/>
        </p:nvCxnSpPr>
        <p:spPr>
          <a:xfrm>
            <a:off x="0" y="1217612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0" name="Google Shape;420;p37"/>
          <p:cNvSpPr txBox="1"/>
          <p:nvPr/>
        </p:nvSpPr>
        <p:spPr>
          <a:xfrm>
            <a:off x="-33337" y="1219200"/>
            <a:ext cx="9144000" cy="494982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Traveling salesperson decision problem is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determine whether a complete directed graph    G=(V, E)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edge costs c(u, v) has a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tour of cost at most M.</a:t>
            </a:r>
            <a:endParaRPr/>
          </a:p>
          <a:p>
            <a:pPr indent="-3429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–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Hamiltonian cycle (DHC) is reducible to the traveling salesperson decision problem (TSP)</a:t>
            </a:r>
            <a:endParaRPr/>
          </a:p>
        </p:txBody>
      </p:sp>
      <p:sp>
        <p:nvSpPr>
          <p:cNvPr id="421" name="Google Shape;421;p3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426" name="Google Shape;42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8"/>
          <p:cNvSpPr txBox="1"/>
          <p:nvPr/>
        </p:nvSpPr>
        <p:spPr>
          <a:xfrm>
            <a:off x="0" y="0"/>
            <a:ext cx="91440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Traveling Salesperson Decision Problem (TSP)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38"/>
          <p:cNvCxnSpPr/>
          <p:nvPr/>
        </p:nvCxnSpPr>
        <p:spPr>
          <a:xfrm>
            <a:off x="0" y="1217612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9" name="Google Shape;429;p38"/>
          <p:cNvSpPr txBox="1"/>
          <p:nvPr/>
        </p:nvSpPr>
        <p:spPr>
          <a:xfrm>
            <a:off x="-33337" y="1219200"/>
            <a:ext cx="9144000" cy="179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–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Hamiltonian cycle (DHC) is reducible to the traveling salesperson decision problem (TSP)</a:t>
            </a:r>
            <a:endParaRPr/>
          </a:p>
        </p:txBody>
      </p:sp>
      <p:pic>
        <p:nvPicPr>
          <p:cNvPr id="430" name="Google Shape;43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12" y="3429000"/>
            <a:ext cx="9107487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436" name="Google Shape;43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9"/>
          <p:cNvSpPr txBox="1"/>
          <p:nvPr/>
        </p:nvSpPr>
        <p:spPr>
          <a:xfrm>
            <a:off x="0" y="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AND/OR Graph Decision Problem (AOG)</a:t>
            </a:r>
            <a:endParaRPr/>
          </a:p>
        </p:txBody>
      </p:sp>
      <p:cxnSp>
        <p:nvCxnSpPr>
          <p:cNvPr id="438" name="Google Shape;438;p39"/>
          <p:cNvCxnSpPr/>
          <p:nvPr/>
        </p:nvCxnSpPr>
        <p:spPr>
          <a:xfrm>
            <a:off x="0" y="642937"/>
            <a:ext cx="9144000" cy="1587"/>
          </a:xfrm>
          <a:prstGeom prst="straightConnector1">
            <a:avLst/>
          </a:prstGeom>
          <a:noFill/>
          <a:ln cap="flat" cmpd="sng" w="15875">
            <a:solidFill>
              <a:srgbClr val="25406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39" name="Google Shape;439;p39"/>
          <p:cNvSpPr txBox="1"/>
          <p:nvPr/>
        </p:nvSpPr>
        <p:spPr>
          <a:xfrm>
            <a:off x="0" y="642937"/>
            <a:ext cx="9144000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problems can be broken down into a series of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problems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of all or some 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these results in the solution of the original problem.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sub problems can be broken down further into sub-sub-problems, and so on,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until the only problems remaining are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sufficiently primitive</a:t>
            </a: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to be trivially solvable. </a:t>
            </a:r>
            <a:endParaRPr/>
          </a:p>
        </p:txBody>
      </p:sp>
      <p:sp>
        <p:nvSpPr>
          <p:cNvPr id="440" name="Google Shape;440;p3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445" name="Google Shape;44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0"/>
          <p:cNvSpPr txBox="1"/>
          <p:nvPr/>
        </p:nvSpPr>
        <p:spPr>
          <a:xfrm>
            <a:off x="0" y="0"/>
            <a:ext cx="9144000" cy="285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-533400" lvl="0" marL="533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breaking down of a complex problem into several subproblems can be represented by a </a:t>
            </a:r>
            <a:r>
              <a:rPr b="0" i="0" lang="en-US" sz="3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graphlike structure </a:t>
            </a:r>
            <a:endParaRPr/>
          </a:p>
          <a:p>
            <a:pPr indent="-533400" lvl="0" marL="533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which nodes represent problems and descendants of nodes represent the subproblems associated with them</a:t>
            </a:r>
            <a:endParaRPr/>
          </a:p>
        </p:txBody>
      </p:sp>
      <p:pic>
        <p:nvPicPr>
          <p:cNvPr id="447" name="Google Shape;44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971800"/>
            <a:ext cx="41148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0"/>
          <p:cNvSpPr txBox="1"/>
          <p:nvPr/>
        </p:nvSpPr>
        <p:spPr>
          <a:xfrm>
            <a:off x="4114800" y="4114800"/>
            <a:ext cx="5029200" cy="22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can be solved by solving either both the sub-problems B and C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the single subproblem D or E. </a:t>
            </a:r>
            <a:endParaRPr/>
          </a:p>
        </p:txBody>
      </p:sp>
      <p:sp>
        <p:nvSpPr>
          <p:cNvPr id="449" name="Google Shape;449;p4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Documents and Settings\SBB\Desktop\Picture2.jpg" id="454" name="Google Shape;45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462" y="-17462"/>
            <a:ext cx="9180512" cy="6894512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1"/>
          <p:cNvSpPr/>
          <p:nvPr/>
        </p:nvSpPr>
        <p:spPr>
          <a:xfrm>
            <a:off x="952500" y="1565275"/>
            <a:ext cx="7239000" cy="13303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0" i="0">
                <a:ln cap="flat" cmpd="sng" w="12600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solidFill>
                  <a:srgbClr val="00B0F0"/>
                </a:solidFill>
                <a:latin typeface="Arial Black"/>
              </a:rPr>
              <a:t>Thank You </a:t>
            </a:r>
          </a:p>
        </p:txBody>
      </p:sp>
      <p:sp>
        <p:nvSpPr>
          <p:cNvPr id="456" name="Google Shape;456;p41"/>
          <p:cNvSpPr txBox="1"/>
          <p:nvPr/>
        </p:nvSpPr>
        <p:spPr>
          <a:xfrm>
            <a:off x="-50800" y="5665787"/>
            <a:ext cx="9144000" cy="11922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0" i="0" lang="en-US" sz="3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Email:- </a:t>
            </a:r>
            <a:r>
              <a:rPr b="0" i="0" lang="en-US" sz="3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suhas.bhagate@gmail.com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457" name="Google Shape;457;p4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2011-01-06T10:07:17Z</dcterms:created>
  <dc:creator>MTECH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